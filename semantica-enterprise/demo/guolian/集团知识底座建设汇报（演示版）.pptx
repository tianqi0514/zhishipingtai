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c3d21ef6e7544ab" /><Relationship Type="http://schemas.openxmlformats.org/officeDocument/2006/relationships/extended-properties" Target="/docProps/app.xml" Id="Rbd30aef37b744338" /><Relationship Type="http://schemas.openxmlformats.org/officeDocument/2006/relationships/officeDocument" Target="/ppt/presentation.xml" Id="R6b3c478bd8024ed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8173dd3c03b4da5"/>
  </p:sldMasterIdLst>
  <p:notesMasterIdLst>
    <p:notesMasterId xmlns:r="http://schemas.openxmlformats.org/officeDocument/2006/relationships" r:id="Rb35567fd7e5548a2"/>
  </p:notesMasterIdLst>
  <p:sldIdLst>
    <p:sldId xmlns:r="http://schemas.openxmlformats.org/officeDocument/2006/relationships" id="256" r:id="Rc9e7637088804e8d"/>
    <p:sldId xmlns:r="http://schemas.openxmlformats.org/officeDocument/2006/relationships" id="257" r:id="Rd509f3f70f18433f"/>
    <p:sldId xmlns:r="http://schemas.openxmlformats.org/officeDocument/2006/relationships" id="258" r:id="R5d19fc4191ae43e4"/>
    <p:sldId xmlns:r="http://schemas.openxmlformats.org/officeDocument/2006/relationships" id="259" r:id="Rbf31e12f56824d84"/>
    <p:sldId xmlns:r="http://schemas.openxmlformats.org/officeDocument/2006/relationships" id="260" r:id="Rfc15bf15ec67477c"/>
    <p:sldId xmlns:r="http://schemas.openxmlformats.org/officeDocument/2006/relationships" id="261" r:id="R00de779780f94c0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87730601b484b93" /><Relationship Type="http://schemas.openxmlformats.org/officeDocument/2006/relationships/slideMaster" Target="/ppt/slideMasters/slideMaster1.xml" Id="R38173dd3c03b4da5" /><Relationship Type="http://schemas.openxmlformats.org/officeDocument/2006/relationships/notesMaster" Target="/ppt/notesMasters/notesMaster1.xml" Id="Rb35567fd7e5548a2" /><Relationship Type="http://schemas.openxmlformats.org/officeDocument/2006/relationships/presProps" Target="/ppt/presProps.xml" Id="R1bb0a29b0e444fff" /><Relationship Type="http://schemas.openxmlformats.org/officeDocument/2006/relationships/tableStyles" Target="/ppt/tableStyles.xml" Id="R5d548b900fd44162" /><Relationship Type="http://schemas.openxmlformats.org/officeDocument/2006/relationships/slide" Target="/ppt/slides/slide1.xml" Id="Rc9e7637088804e8d" /><Relationship Type="http://schemas.openxmlformats.org/officeDocument/2006/relationships/slide" Target="/ppt/slides/slide2.xml" Id="Rd509f3f70f18433f" /><Relationship Type="http://schemas.openxmlformats.org/officeDocument/2006/relationships/slide" Target="/ppt/slides/slide3.xml" Id="R5d19fc4191ae43e4" /><Relationship Type="http://schemas.openxmlformats.org/officeDocument/2006/relationships/slide" Target="/ppt/slides/slide4.xml" Id="Rbf31e12f56824d84" /><Relationship Type="http://schemas.openxmlformats.org/officeDocument/2006/relationships/slide" Target="/ppt/slides/slide5.xml" Id="Rfc15bf15ec67477c" /><Relationship Type="http://schemas.openxmlformats.org/officeDocument/2006/relationships/slide" Target="/ppt/slides/slide6.xml" Id="R00de779780f94c0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431338860dc4e7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dfece240d774e04" /><Relationship Type="http://schemas.openxmlformats.org/officeDocument/2006/relationships/notesMaster" Target="/ppt/notesMasters/notesMaster1.xml" Id="Rc9c87ad2a9d542a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58e309ac2954116" /><Relationship Type="http://schemas.openxmlformats.org/officeDocument/2006/relationships/notesMaster" Target="/ppt/notesMasters/notesMaster1.xml" Id="Rdb814c493b4347a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4b3bb7717684c80" /><Relationship Type="http://schemas.openxmlformats.org/officeDocument/2006/relationships/notesMaster" Target="/ppt/notesMasters/notesMaster1.xml" Id="R1b98f5008d564ed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8b536cc5368471b" /><Relationship Type="http://schemas.openxmlformats.org/officeDocument/2006/relationships/notesMaster" Target="/ppt/notesMasters/notesMaster1.xml" Id="Rf863f3060a1b4d1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076708167704dd1" /><Relationship Type="http://schemas.openxmlformats.org/officeDocument/2006/relationships/notesMaster" Target="/ppt/notesMasters/notesMaster1.xml" Id="Rbc25f64ac614474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9e38d4fd79644e1" /><Relationship Type="http://schemas.openxmlformats.org/officeDocument/2006/relationships/notesMaster" Target="/ppt/notesMasters/notesMaster1.xml" Id="R5bf187cd8c1a47e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演示数据，不代表国联集团真实经营数据。 本页用于客户演示开场。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演示数据，不代表国联集团真实经营数据。 先讲业务问题，再进入技术能力。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演示数据，不代表国联集团真实经营数据。 说明平台从原始素材到统一知识服务的完整链路。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演示数据，不代表国联集团真实经营数据。 本页所有主体和金额均为演示构造。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演示数据，不代表国联集团真实经营数据。 DeepSeek Harness 负责工具选择与多轮会话，业务数据与权限仍由平台管理。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演示数据，不代表国联集团真实经营数据。 结束时强调统一知识底座对应用场景的支撑作用。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d104b7eb42040b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e350004bae945fa" /><Relationship Type="http://schemas.openxmlformats.org/officeDocument/2006/relationships/slideLayout" Target="/ppt/slideLayouts/slideLayout1.xml" Id="Rc2c32dafcaec465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2c32dafcaec465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e66af4021f4ab6" /><Relationship Type="http://schemas.openxmlformats.org/officeDocument/2006/relationships/notesSlide" Target="/ppt/notesSlides/notesSlide1.xml" Id="R5ec71ddfd50f47d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524de8ccce40c5" /><Relationship Type="http://schemas.openxmlformats.org/officeDocument/2006/relationships/notesSlide" Target="/ppt/notesSlides/notesSlide2.xml" Id="R98cc0f12a2da4eb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336e275e4a4881" /><Relationship Type="http://schemas.openxmlformats.org/officeDocument/2006/relationships/notesSlide" Target="/ppt/notesSlides/notesSlide3.xml" Id="R5d0e69cc86d34af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79d7c3cb4947f2" /><Relationship Type="http://schemas.openxmlformats.org/officeDocument/2006/relationships/notesSlide" Target="/ppt/notesSlides/notesSlide4.xml" Id="R84ee129ebb2d496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688f408b194a09" /><Relationship Type="http://schemas.openxmlformats.org/officeDocument/2006/relationships/notesSlide" Target="/ppt/notesSlides/notesSlide5.xml" Id="Rd425e1c299724a9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159e5c445e44b3" /><Relationship Type="http://schemas.openxmlformats.org/officeDocument/2006/relationships/notesSlide" Target="/ppt/notesSlides/notesSlide6.xml" Id="R2f38e8f758f943f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D9EC6A-0360-4ECC-8DE9-A3ACBF19A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85800"/>
            <a:ext cx="3905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55EE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55EEF"/>
                </a:solidFill>
                <a:latin typeface="Helvetica Neue"/>
                <a:ea typeface="Helvetica Neue"/>
                <a:cs typeface="Helvetica Neue"/>
              </a:rPr>
              <a:t>传神智库 · 国联集团演示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872A20-3EF0-4C07-9B35-CB005D460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47800"/>
            <a:ext cx="7524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724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7243A"/>
                </a:solidFill>
                <a:latin typeface="Helvetica Neue"/>
                <a:ea typeface="Helvetica Neue"/>
                <a:cs typeface="Helvetica Neue"/>
              </a:rPr>
              <a:t>集团知识，从分散材料</a:t>
            </a:r>
          </a:p>
          <a:p xmlns:a="http://schemas.openxmlformats.org/drawingml/2006/main">
            <a:pPr algn="l">
              <a:defRPr sz="3600" b="1">
                <a:solidFill>
                  <a:srgbClr val="1724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7243A"/>
                </a:solidFill>
                <a:latin typeface="Helvetica Neue"/>
                <a:ea typeface="Helvetica Neue"/>
                <a:cs typeface="Helvetica Neue"/>
              </a:rPr>
              <a:t>走向统一、可信、可调用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B97AD5-7F44-4F32-919C-A646BBFD0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43250"/>
            <a:ext cx="895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A6B82"/>
                </a:solidFill>
                <a:latin typeface="Helvetica Neue"/>
                <a:ea typeface="Helvetica Neue"/>
                <a:cs typeface="Helvetica Neue"/>
              </a:rPr>
              <a:t>多源接入 · 自动与人工治理 · 语义建模 · 图谱推演 · 数据库问答 · Agent 服务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E82513-FFF1-46CF-A827-AA219F2B3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10050"/>
            <a:ext cx="133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55EE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55EEF"/>
                </a:solidFill>
                <a:latin typeface="Helvetica Neue"/>
                <a:ea typeface="Helvetica Neue"/>
                <a:cs typeface="Helvetica Neue"/>
              </a:rPr>
              <a:t>演示范围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6C7A3D-B6FD-4B36-9404-6684A042F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0"/>
            <a:ext cx="723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4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7243A"/>
                </a:solidFill>
                <a:latin typeface="Helvetica Neue"/>
                <a:ea typeface="Helvetica Neue"/>
                <a:cs typeface="Helvetica Neue"/>
              </a:rPr>
              <a:t>集团采购制度执行、供应商风险传导与智慧流程中枢项目建设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0BA6A5-E236-47B9-B70D-FA0B2E7F6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1390650"/>
            <a:ext cx="2381250" cy="2381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5EEF"/>
          </a:solidFill>
          <a:ln xmlns:a="http://schemas.openxmlformats.org/drawingml/2006/main" w="0">
            <a:solidFill>
              <a:srgbClr val="155EE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DEMO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4EBAA2-85A9-473A-B45B-C1556604D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293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A6B82"/>
                </a:solidFill>
                <a:latin typeface="Helvetica Neue"/>
                <a:ea typeface="Helvetica Neue"/>
                <a:cs typeface="Helvetica Neue"/>
              </a:rPr>
              <a:t>演示数据，不代表国联集团真实经营数据。</a:t>
            </a:r>
          </a:p>
        </p:txBody>
      </p:sp>
    </p:spTree>
    <p:extLst>
      <p:ext uri="{BB962C8B-B14F-4D97-AF65-F5344CB8AC3E}">
        <p14:creationId xmlns:p14="http://schemas.microsoft.com/office/powerpoint/2010/main" val="144626755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F11BE18-7626-4BB8-886D-FB35CD79A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55EE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55EEF"/>
                </a:solidFill>
                <a:latin typeface="Helvetica Neue"/>
                <a:ea typeface="Helvetica Neue"/>
                <a:cs typeface="Helvetica Neue"/>
              </a:rPr>
              <a:t>01 业务背景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57AC7B-51B0-4DF5-B380-586C58233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10896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4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7243A"/>
                </a:solidFill>
                <a:latin typeface="Helvetica Neue"/>
                <a:ea typeface="Helvetica Neue"/>
                <a:cs typeface="Helvetica Neue"/>
              </a:rPr>
              <a:t>集团知识真正难的不是“存起来”，而是“用起来”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4C0858-BD0B-4C23-9F19-6EED32C8C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33500"/>
            <a:ext cx="1057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A6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A6B82"/>
                </a:solidFill>
                <a:latin typeface="Helvetica Neue"/>
                <a:ea typeface="Helvetica Neue"/>
                <a:cs typeface="Helvetica Neue"/>
              </a:rPr>
              <a:t>同一个业务判断往往横跨制度、项目材料、数据库和会议记录。 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F9F2BE-A5ED-4720-AA1F-C854F5855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1985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A6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A6B82"/>
                </a:solidFill>
                <a:latin typeface="Helvetica Neue"/>
                <a:ea typeface="Helvetica Neue"/>
                <a:cs typeface="Helvetica Neue"/>
              </a:rPr>
              <a:t>演示数据，不代表国联集团真实经营数据。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D55B78-36F8-4AB9-B032-B5E506751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62150"/>
            <a:ext cx="2457450" cy="314325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D9E2F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474749-F8F5-4239-BF46-A6144CA31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33600"/>
            <a:ext cx="2038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33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55EE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55EEF"/>
                </a:solidFill>
                <a:latin typeface="Helvetica Neue"/>
                <a:ea typeface="Helvetica Neue"/>
                <a:cs typeface="Helvetica Neue"/>
              </a:rPr>
              <a:t>知识分散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88930F-B950-4506-811C-A5F3E50E5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95550"/>
            <a:ext cx="2038350" cy="2457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A6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A6B82"/>
                </a:solidFill>
                <a:latin typeface="Helvetica Neue"/>
                <a:ea typeface="Helvetica Neue"/>
                <a:cs typeface="Helvetica Neue"/>
              </a:rPr>
              <a:t>制度在文档中</a:t>
            </a:r>
          </a:p>
          <a:p xmlns:a="http://schemas.openxmlformats.org/drawingml/2006/main">
            <a:pPr algn="l">
              <a:defRPr sz="1200" b="0">
                <a:solidFill>
                  <a:srgbClr val="5A6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A6B82"/>
                </a:solidFill>
                <a:latin typeface="Helvetica Neue"/>
                <a:ea typeface="Helvetica Neue"/>
                <a:cs typeface="Helvetica Neue"/>
              </a:rPr>
              <a:t>项目关系在图表中</a:t>
            </a:r>
          </a:p>
          <a:p xmlns:a="http://schemas.openxmlformats.org/drawingml/2006/main">
            <a:pPr algn="l">
              <a:defRPr sz="1200" b="0">
                <a:solidFill>
                  <a:srgbClr val="5A6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A6B82"/>
                </a:solidFill>
                <a:latin typeface="Helvetica Neue"/>
                <a:ea typeface="Helvetica Neue"/>
                <a:cs typeface="Helvetica Neue"/>
              </a:rPr>
              <a:t>风险在邮件与会议中</a:t>
            </a:r>
          </a:p>
          <a:p xmlns:a="http://schemas.openxmlformats.org/drawingml/2006/main">
            <a:pPr algn="l">
              <a:defRPr sz="1200" b="0">
                <a:solidFill>
                  <a:srgbClr val="5A6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A6B82"/>
                </a:solidFill>
                <a:latin typeface="Helvetica Neue"/>
                <a:ea typeface="Helvetica Neue"/>
                <a:cs typeface="Helvetica Neue"/>
              </a:rPr>
              <a:t>金额在业务数据库中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8210EF-1CB7-41EE-9478-1D9747949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962150"/>
            <a:ext cx="2457450" cy="314325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FFF5E8"/>
          </a:solidFill>
          <a:ln xmlns:a="http://schemas.openxmlformats.org/drawingml/2006/main" w="9525">
            <a:solidFill>
              <a:srgbClr val="D9E2F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CEEB01-971F-4BC1-B77D-140F75560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133600"/>
            <a:ext cx="2038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33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B4530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B45309"/>
                </a:solidFill>
                <a:latin typeface="Helvetica Neue"/>
                <a:ea typeface="Helvetica Neue"/>
                <a:cs typeface="Helvetica Neue"/>
              </a:rPr>
              <a:t>质量不一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A2B287-A450-40B3-A223-85DC29625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495550"/>
            <a:ext cx="2038350" cy="2457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A6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A6B82"/>
                </a:solidFill>
                <a:latin typeface="Helvetica Neue"/>
                <a:ea typeface="Helvetica Neue"/>
                <a:cs typeface="Helvetica Neue"/>
              </a:rPr>
              <a:t>新旧版本并存</a:t>
            </a:r>
          </a:p>
          <a:p xmlns:a="http://schemas.openxmlformats.org/drawingml/2006/main">
            <a:pPr algn="l">
              <a:defRPr sz="1200" b="0">
                <a:solidFill>
                  <a:srgbClr val="5A6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A6B82"/>
                </a:solidFill>
                <a:latin typeface="Helvetica Neue"/>
                <a:ea typeface="Helvetica Neue"/>
                <a:cs typeface="Helvetica Neue"/>
              </a:rPr>
              <a:t>组织与供应商存在别名</a:t>
            </a:r>
          </a:p>
          <a:p xmlns:a="http://schemas.openxmlformats.org/drawingml/2006/main">
            <a:pPr algn="l">
              <a:defRPr sz="1200" b="0">
                <a:solidFill>
                  <a:srgbClr val="5A6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A6B82"/>
                </a:solidFill>
                <a:latin typeface="Helvetica Neue"/>
                <a:ea typeface="Helvetica Neue"/>
                <a:cs typeface="Helvetica Neue"/>
              </a:rPr>
              <a:t>扫描件文字置信度不稳定</a:t>
            </a:r>
          </a:p>
          <a:p xmlns:a="http://schemas.openxmlformats.org/drawingml/2006/main">
            <a:pPr algn="l">
              <a:defRPr sz="1200" b="0">
                <a:solidFill>
                  <a:srgbClr val="5A6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A6B82"/>
                </a:solidFill>
                <a:latin typeface="Helvetica Neue"/>
                <a:ea typeface="Helvetica Neue"/>
                <a:cs typeface="Helvetica Neue"/>
              </a:rPr>
              <a:t>字段可能包含敏感信息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8889BD-93F5-43B0-9A9C-A6D71EA8F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962150"/>
            <a:ext cx="2457450" cy="314325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FDECEC"/>
          </a:solidFill>
          <a:ln xmlns:a="http://schemas.openxmlformats.org/drawingml/2006/main" w="9525">
            <a:solidFill>
              <a:srgbClr val="D9E2F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28A5473-1B7B-45B1-8955-1A64CB3E1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133600"/>
            <a:ext cx="2038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33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B42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B42318"/>
                </a:solidFill>
                <a:latin typeface="Helvetica Neue"/>
                <a:ea typeface="Helvetica Neue"/>
                <a:cs typeface="Helvetica Neue"/>
              </a:rPr>
              <a:t>关系难发现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BDC174B-78F5-4C02-B5E6-444583A71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495550"/>
            <a:ext cx="2038350" cy="2457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A6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A6B82"/>
                </a:solidFill>
                <a:latin typeface="Helvetica Neue"/>
                <a:ea typeface="Helvetica Neue"/>
                <a:cs typeface="Helvetica Neue"/>
              </a:rPr>
              <a:t>单段文本不能直接说明</a:t>
            </a:r>
          </a:p>
          <a:p xmlns:a="http://schemas.openxmlformats.org/drawingml/2006/main">
            <a:pPr algn="l">
              <a:defRPr sz="1200" b="0">
                <a:solidFill>
                  <a:srgbClr val="5A6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A6B82"/>
                </a:solidFill>
                <a:latin typeface="Helvetica Neue"/>
                <a:ea typeface="Helvetica Neue"/>
                <a:cs typeface="Helvetica Neue"/>
              </a:rPr>
              <a:t>供应商 → 产品 → 项目</a:t>
            </a:r>
          </a:p>
          <a:p xmlns:a="http://schemas.openxmlformats.org/drawingml/2006/main">
            <a:pPr algn="l">
              <a:defRPr sz="1200" b="0">
                <a:solidFill>
                  <a:srgbClr val="5A6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A6B82"/>
                </a:solidFill>
                <a:latin typeface="Helvetica Neue"/>
                <a:ea typeface="Helvetica Neue"/>
                <a:cs typeface="Helvetica Neue"/>
              </a:rPr>
              <a:t>→ 责任组织的完整影响链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C2F5526-CF7E-42A9-982E-D3ABE560C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1962150"/>
            <a:ext cx="2838450" cy="3143250"/>
          </a:xfrm>
          <a:prstGeom xmlns:a="http://schemas.openxmlformats.org/drawingml/2006/main" prst="roundRect">
            <a:avLst>
              <a:gd name="adj" fmla="val 4027"/>
            </a:avLst>
          </a:prstGeom>
          <a:solidFill xmlns:a="http://schemas.openxmlformats.org/drawingml/2006/main">
            <a:srgbClr val="E9F8F0"/>
          </a:solidFill>
          <a:ln xmlns:a="http://schemas.openxmlformats.org/drawingml/2006/main" w="9525">
            <a:solidFill>
              <a:srgbClr val="D9E2F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29EC1DE-E075-4B5F-A182-E47A8746E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133600"/>
            <a:ext cx="2419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33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38A5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38A5B"/>
                </a:solidFill>
                <a:latin typeface="Helvetica Neue"/>
                <a:ea typeface="Helvetica Neue"/>
                <a:cs typeface="Helvetica Neue"/>
              </a:rPr>
              <a:t>应用难复用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CA2C508-12AC-46C8-875A-C8A844935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495550"/>
            <a:ext cx="2419350" cy="2457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A6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A6B82"/>
                </a:solidFill>
                <a:latin typeface="Helvetica Neue"/>
                <a:ea typeface="Helvetica Neue"/>
                <a:cs typeface="Helvetica Neue"/>
              </a:rPr>
              <a:t>每个应用重复接数据</a:t>
            </a:r>
          </a:p>
          <a:p xmlns:a="http://schemas.openxmlformats.org/drawingml/2006/main">
            <a:pPr algn="l">
              <a:defRPr sz="1200" b="0">
                <a:solidFill>
                  <a:srgbClr val="5A6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A6B82"/>
                </a:solidFill>
                <a:latin typeface="Helvetica Neue"/>
                <a:ea typeface="Helvetica Neue"/>
                <a:cs typeface="Helvetica Neue"/>
              </a:rPr>
              <a:t>数据库实时值与文档口径割裂</a:t>
            </a:r>
          </a:p>
          <a:p xmlns:a="http://schemas.openxmlformats.org/drawingml/2006/main">
            <a:pPr algn="l">
              <a:defRPr sz="1200" b="0">
                <a:solidFill>
                  <a:srgbClr val="5A6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A6B82"/>
                </a:solidFill>
                <a:latin typeface="Helvetica Neue"/>
                <a:ea typeface="Helvetica Neue"/>
                <a:cs typeface="Helvetica Neue"/>
              </a:rPr>
              <a:t>答案缺少统一引用与审计</a:t>
            </a:r>
          </a:p>
        </p:txBody>
      </p:sp>
    </p:spTree>
    <p:extLst>
      <p:ext uri="{BB962C8B-B14F-4D97-AF65-F5344CB8AC3E}">
        <p14:creationId xmlns:p14="http://schemas.microsoft.com/office/powerpoint/2010/main" val="99140550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6C65C89-6826-4CFD-A5C3-738A84713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55EE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55EEF"/>
                </a:solidFill>
                <a:latin typeface="Helvetica Neue"/>
                <a:ea typeface="Helvetica Neue"/>
                <a:cs typeface="Helvetica Neue"/>
              </a:rPr>
              <a:t>02 平台定位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7C28F7-E437-41FC-958B-FD256C372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10896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4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7243A"/>
                </a:solidFill>
                <a:latin typeface="Helvetica Neue"/>
                <a:ea typeface="Helvetica Neue"/>
                <a:cs typeface="Helvetica Neue"/>
              </a:rPr>
              <a:t>不是一次性 RAG，而是组织级知识供给链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9371AE-FB94-4180-A614-49D69CC27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33500"/>
            <a:ext cx="1057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A6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A6B82"/>
                </a:solidFill>
                <a:latin typeface="Helvetica Neue"/>
                <a:ea typeface="Helvetica Neue"/>
                <a:cs typeface="Helvetica Neue"/>
              </a:rPr>
              <a:t>同一套知识经过治理、建模和发布后，同时服务人、模型与智能体。 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A86A91-365B-4332-993E-7FB136909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1985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A6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A6B82"/>
                </a:solidFill>
                <a:latin typeface="Helvetica Neue"/>
                <a:ea typeface="Helvetica Neue"/>
                <a:cs typeface="Helvetica Neue"/>
              </a:rPr>
              <a:t>演示数据，不代表国联集团真实经营数据。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9CF86B-E939-427A-BD8E-2059D3EAD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09800"/>
            <a:ext cx="1943100" cy="22479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F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2752CB-312C-43CE-8FA5-6766A01FE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81250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33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55EE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55EEF"/>
                </a:solidFill>
                <a:latin typeface="Helvetica Neue"/>
                <a:ea typeface="Helvetica Neue"/>
                <a:cs typeface="Helvetica Neue"/>
              </a:rPr>
              <a:t>多源接入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CA9D29-C32A-4E23-A8A3-2AD74687D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43200"/>
            <a:ext cx="152400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A6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A6B82"/>
                </a:solidFill>
                <a:latin typeface="Helvetica Neue"/>
                <a:ea typeface="Helvetica Neue"/>
                <a:cs typeface="Helvetica Neue"/>
              </a:rPr>
              <a:t>文档 / 表格 / 数据库</a:t>
            </a:r>
          </a:p>
          <a:p xmlns:a="http://schemas.openxmlformats.org/drawingml/2006/main">
            <a:pPr algn="l">
              <a:defRPr sz="1200" b="0">
                <a:solidFill>
                  <a:srgbClr val="5A6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A6B82"/>
                </a:solidFill>
                <a:latin typeface="Helvetica Neue"/>
                <a:ea typeface="Helvetica Neue"/>
                <a:cs typeface="Helvetica Neue"/>
              </a:rPr>
              <a:t>图片 / 音频 / 视频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084F96-CC7E-4EF1-A495-C2A957896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2990850"/>
            <a:ext cx="361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2485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55EE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55EEF"/>
                </a:solidFill>
                <a:latin typeface="Helvetica Neue"/>
                <a:ea typeface="Helvetica Neue"/>
                <a:cs typeface="Helvetica Neue"/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4D0499-C53F-4172-B2C7-CF530DBE9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209800"/>
            <a:ext cx="1943100" cy="22479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F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447366-7662-47A0-992F-D5A0EE4AB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381250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33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E749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E7490"/>
                </a:solidFill>
                <a:latin typeface="Helvetica Neue"/>
                <a:ea typeface="Helvetica Neue"/>
                <a:cs typeface="Helvetica Neue"/>
              </a:rPr>
              <a:t>知识加工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959904-A2DB-42DB-8CB9-BFF5C2BAB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743200"/>
            <a:ext cx="152400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A6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A6B82"/>
                </a:solidFill>
                <a:latin typeface="Helvetica Neue"/>
                <a:ea typeface="Helvetica Neue"/>
                <a:cs typeface="Helvetica Neue"/>
              </a:rPr>
              <a:t>解析 / OCR / ASR</a:t>
            </a:r>
          </a:p>
          <a:p xmlns:a="http://schemas.openxmlformats.org/drawingml/2006/main">
            <a:pPr algn="l">
              <a:defRPr sz="1200" b="0">
                <a:solidFill>
                  <a:srgbClr val="5A6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A6B82"/>
                </a:solidFill>
                <a:latin typeface="Helvetica Neue"/>
                <a:ea typeface="Helvetica Neue"/>
                <a:cs typeface="Helvetica Neue"/>
              </a:rPr>
              <a:t>切片 / 向量化 / 抽取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34F9ADC-11BF-493C-BDC1-3DEAC4683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2990850"/>
            <a:ext cx="361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2485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55EE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55EEF"/>
                </a:solidFill>
                <a:latin typeface="Helvetica Neue"/>
                <a:ea typeface="Helvetica Neue"/>
                <a:cs typeface="Helvetica Neue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6851C06-53E6-4DB9-8C2D-55A49B61B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209800"/>
            <a:ext cx="1943100" cy="22479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F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040141D-1573-40F3-8847-4F8B4F3F6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2381250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33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B4530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B45309"/>
                </a:solidFill>
                <a:latin typeface="Helvetica Neue"/>
                <a:ea typeface="Helvetica Neue"/>
                <a:cs typeface="Helvetica Neue"/>
              </a:rPr>
              <a:t>治理校准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2DBFF30-6A2B-4289-8AE2-B32EFAF14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2743200"/>
            <a:ext cx="152400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A6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A6B82"/>
                </a:solidFill>
                <a:latin typeface="Helvetica Neue"/>
                <a:ea typeface="Helvetica Neue"/>
                <a:cs typeface="Helvetica Neue"/>
              </a:rPr>
              <a:t>版本 / 重复 / 别名</a:t>
            </a:r>
          </a:p>
          <a:p xmlns:a="http://schemas.openxmlformats.org/drawingml/2006/main">
            <a:pPr algn="l">
              <a:defRPr sz="1200" b="0">
                <a:solidFill>
                  <a:srgbClr val="5A6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A6B82"/>
                </a:solidFill>
                <a:latin typeface="Helvetica Neue"/>
                <a:ea typeface="Helvetica Neue"/>
                <a:cs typeface="Helvetica Neue"/>
              </a:rPr>
              <a:t>冲突 / 质量 / 人工纠错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C48874B-35CE-41FD-99E2-62B94150C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2990850"/>
            <a:ext cx="361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2485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55EE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55EEF"/>
                </a:solidFill>
                <a:latin typeface="Helvetica Neue"/>
                <a:ea typeface="Helvetica Neue"/>
                <a:cs typeface="Helvetica Neue"/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E52A6BC-7B2E-4F6C-8C35-E0F68D12C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209800"/>
            <a:ext cx="1943100" cy="22479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F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5EE1085-2265-4D60-B7F4-99454BD49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381250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33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38A5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38A5B"/>
                </a:solidFill>
                <a:latin typeface="Helvetica Neue"/>
                <a:ea typeface="Helvetica Neue"/>
                <a:cs typeface="Helvetica Neue"/>
              </a:rPr>
              <a:t>语义建模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847EEB6-F522-40A8-BACA-558C310D3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743200"/>
            <a:ext cx="152400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A6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A6B82"/>
                </a:solidFill>
                <a:latin typeface="Helvetica Neue"/>
                <a:ea typeface="Helvetica Neue"/>
                <a:cs typeface="Helvetica Neue"/>
              </a:rPr>
              <a:t>本体 / 实体 / 关系</a:t>
            </a:r>
          </a:p>
          <a:p xmlns:a="http://schemas.openxmlformats.org/drawingml/2006/main">
            <a:pPr algn="l">
              <a:defRPr sz="1200" b="0">
                <a:solidFill>
                  <a:srgbClr val="5A6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A6B82"/>
                </a:solidFill>
                <a:latin typeface="Helvetica Neue"/>
                <a:ea typeface="Helvetica Neue"/>
                <a:cs typeface="Helvetica Neue"/>
              </a:rPr>
              <a:t>来源 / 规则 / 图谱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F838486-46AE-4D8A-8DDB-9F9777CB1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2990850"/>
            <a:ext cx="361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2485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55EE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55EEF"/>
                </a:solidFill>
                <a:latin typeface="Helvetica Neue"/>
                <a:ea typeface="Helvetica Neue"/>
                <a:cs typeface="Helvetica Neue"/>
              </a:rPr>
              <a:t>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E10CE79-2265-475A-9FC9-F9E4F123B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209800"/>
            <a:ext cx="1943100" cy="22479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F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6507BDD-30DC-4A46-A914-049B2746A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2381250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33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3D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F3D75"/>
                </a:solidFill>
                <a:latin typeface="Helvetica Neue"/>
                <a:ea typeface="Helvetica Neue"/>
                <a:cs typeface="Helvetica Neue"/>
              </a:rPr>
              <a:t>统一服务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12007EB-DE60-4598-96E7-E419876ED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2743200"/>
            <a:ext cx="152400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A6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A6B82"/>
                </a:solidFill>
                <a:latin typeface="Helvetica Neue"/>
                <a:ea typeface="Helvetica Neue"/>
                <a:cs typeface="Helvetica Neue"/>
              </a:rPr>
              <a:t>检索 / 问答 / 推演</a:t>
            </a:r>
          </a:p>
          <a:p xmlns:a="http://schemas.openxmlformats.org/drawingml/2006/main">
            <a:pPr algn="l">
              <a:defRPr sz="1200" b="0">
                <a:solidFill>
                  <a:srgbClr val="5A6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A6B82"/>
                </a:solidFill>
                <a:latin typeface="Helvetica Neue"/>
                <a:ea typeface="Helvetica Neue"/>
                <a:cs typeface="Helvetica Neue"/>
              </a:rPr>
              <a:t>REST / MCP / CLI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AD036AC-EC4B-4E6A-8A04-9BD8ED016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4857750"/>
            <a:ext cx="689610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925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55EE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55EEF"/>
                </a:solidFill>
                <a:latin typeface="Helvetica Neue"/>
                <a:ea typeface="Helvetica Neue"/>
                <a:cs typeface="Helvetica Neue"/>
              </a:rPr>
              <a:t>每一步都有真实任务、版本、权限与来源记录</a:t>
            </a:r>
          </a:p>
        </p:txBody>
      </p:sp>
    </p:spTree>
    <p:extLst>
      <p:ext uri="{BB962C8B-B14F-4D97-AF65-F5344CB8AC3E}">
        <p14:creationId xmlns:p14="http://schemas.microsoft.com/office/powerpoint/2010/main" val="60962190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BC04790-086E-4F16-BDB4-903B7520E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55EE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55EEF"/>
                </a:solidFill>
                <a:latin typeface="Helvetica Neue"/>
                <a:ea typeface="Helvetica Neue"/>
                <a:cs typeface="Helvetica Neue"/>
              </a:rPr>
              <a:t>03 演示主线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D82423-9DC7-48D9-B747-68B9FDC8F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10896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4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7243A"/>
                </a:solidFill>
                <a:latin typeface="Helvetica Neue"/>
                <a:ea typeface="Helvetica Neue"/>
                <a:cs typeface="Helvetica Neue"/>
              </a:rPr>
              <a:t>从一封延期邮件，追溯到受影响项目与责任部门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0C46A5-5677-4F36-AC5C-F4912453A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33500"/>
            <a:ext cx="1057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A6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A6B82"/>
                </a:solidFill>
                <a:latin typeface="Helvetica Neue"/>
                <a:ea typeface="Helvetica Neue"/>
                <a:cs typeface="Helvetica Neue"/>
              </a:rPr>
              <a:t>事实分散在不同来源，图谱和规则把它们连接成可核验的业务结论。 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AD8663-23E6-4F04-A5F5-422F231B9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1985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A6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A6B82"/>
                </a:solidFill>
                <a:latin typeface="Helvetica Neue"/>
                <a:ea typeface="Helvetica Neue"/>
                <a:cs typeface="Helvetica Neue"/>
              </a:rPr>
              <a:t>演示数据，不代表国联集团真实经营数据。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A83561-C6D6-45F5-98E7-198A43926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81250"/>
            <a:ext cx="2143125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DECEC"/>
          </a:solidFill>
          <a:ln xmlns:a="http://schemas.openxmlformats.org/drawingml/2006/main" w="9525">
            <a:solidFill>
              <a:srgbClr val="B42318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B42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B42318"/>
                </a:solidFill>
                <a:latin typeface="Helvetica Neue"/>
                <a:ea typeface="Helvetica Neue"/>
                <a:cs typeface="Helvetica Neue"/>
              </a:rPr>
              <a:t>东方智造</a:t>
            </a:r>
          </a:p>
          <a:p xmlns:a="http://schemas.openxmlformats.org/drawingml/2006/main">
            <a:pPr algn="ctr">
              <a:defRPr sz="1575" b="1">
                <a:solidFill>
                  <a:srgbClr val="B42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B42318"/>
                </a:solidFill>
                <a:latin typeface="Helvetica Neue"/>
                <a:ea typeface="Helvetica Neue"/>
                <a:cs typeface="Helvetica Neue"/>
              </a:rPr>
              <a:t>供应商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A59D5A-DA9B-421C-80FB-FB0525E08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667000"/>
            <a:ext cx="7429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5A6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5A6B82"/>
                </a:solidFill>
                <a:latin typeface="Helvetica Neue"/>
                <a:ea typeface="Helvetica Neue"/>
                <a:cs typeface="Helvetica Neue"/>
              </a:rPr>
              <a:t>供应 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735DF8-5F25-4A3E-A8C0-3F93A143F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381250"/>
            <a:ext cx="2143125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155EEF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55EE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55EEF"/>
                </a:solidFill>
                <a:latin typeface="Helvetica Neue"/>
                <a:ea typeface="Helvetica Neue"/>
                <a:cs typeface="Helvetica Neue"/>
              </a:rPr>
              <a:t>NexusOne</a:t>
            </a:r>
          </a:p>
          <a:p xmlns:a="http://schemas.openxmlformats.org/drawingml/2006/main">
            <a:pPr algn="ctr">
              <a:defRPr sz="1575" b="1">
                <a:solidFill>
                  <a:srgbClr val="155EE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55EEF"/>
                </a:solidFill>
                <a:latin typeface="Helvetica Neue"/>
                <a:ea typeface="Helvetica Neue"/>
                <a:cs typeface="Helvetica Neue"/>
              </a:rPr>
              <a:t>核心产品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2F5389-6C2D-4F7C-BA63-467D0A3BD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667000"/>
            <a:ext cx="7429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5A6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5A6B82"/>
                </a:solidFill>
                <a:latin typeface="Helvetica Neue"/>
                <a:ea typeface="Helvetica Neue"/>
                <a:cs typeface="Helvetica Neue"/>
              </a:rPr>
              <a:t>用于 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63EA4F-7BA9-40F4-88BF-3E56D9C2D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381250"/>
            <a:ext cx="2143125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E9F8F0"/>
          </a:solidFill>
          <a:ln xmlns:a="http://schemas.openxmlformats.org/drawingml/2006/main" w="9525">
            <a:solidFill>
              <a:srgbClr val="138A5B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38A5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38A5B"/>
                </a:solidFill>
                <a:latin typeface="Helvetica Neue"/>
                <a:ea typeface="Helvetica Neue"/>
                <a:cs typeface="Helvetica Neue"/>
              </a:rPr>
              <a:t>智慧流程中枢</a:t>
            </a:r>
          </a:p>
          <a:p xmlns:a="http://schemas.openxmlformats.org/drawingml/2006/main">
            <a:pPr algn="ctr">
              <a:defRPr sz="1575" b="1">
                <a:solidFill>
                  <a:srgbClr val="138A5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38A5B"/>
                </a:solidFill>
                <a:latin typeface="Helvetica Neue"/>
                <a:ea typeface="Helvetica Neue"/>
                <a:cs typeface="Helvetica Neue"/>
              </a:rPr>
              <a:t>建设项目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A2D2EB-2A22-45C0-B0F6-5E5896C6D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667000"/>
            <a:ext cx="7429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5A6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5A6B82"/>
                </a:solidFill>
                <a:latin typeface="Helvetica Neue"/>
                <a:ea typeface="Helvetica Neue"/>
                <a:cs typeface="Helvetica Neue"/>
              </a:rPr>
              <a:t>负责 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F30A67-911E-4BB6-B185-0A04308CD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381250"/>
            <a:ext cx="2143125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5E8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B4530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B45309"/>
                </a:solidFill>
                <a:latin typeface="Helvetica Neue"/>
                <a:ea typeface="Helvetica Neue"/>
                <a:cs typeface="Helvetica Neue"/>
              </a:rPr>
              <a:t>数字科技公司</a:t>
            </a:r>
          </a:p>
          <a:p xmlns:a="http://schemas.openxmlformats.org/drawingml/2006/main">
            <a:pPr algn="ctr">
              <a:defRPr sz="1575" b="1">
                <a:solidFill>
                  <a:srgbClr val="B4530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B45309"/>
                </a:solidFill>
                <a:latin typeface="Helvetica Neue"/>
                <a:ea typeface="Helvetica Neue"/>
                <a:cs typeface="Helvetica Neue"/>
              </a:rPr>
              <a:t>责任组织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7381A9-976E-4142-9D47-8C310B969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29050"/>
            <a:ext cx="21336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DECEC"/>
          </a:solidFill>
          <a:ln xmlns:a="http://schemas.openxmlformats.org/drawingml/2006/main" w="9525">
            <a:solidFill>
              <a:srgbClr val="B42318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B42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B42318"/>
                </a:solidFill>
                <a:latin typeface="Helvetica Neue"/>
                <a:ea typeface="Helvetica Neue"/>
                <a:cs typeface="Helvetica Neue"/>
              </a:rPr>
              <a:t>延期风险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DED26C8-19AC-4D3A-981B-9ADEF6E21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848100"/>
            <a:ext cx="838200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155EEF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55EE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55EEF"/>
                </a:solidFill>
                <a:latin typeface="Helvetica Neue"/>
                <a:ea typeface="Helvetica Neue"/>
                <a:cs typeface="Helvetica Neue"/>
              </a:rPr>
              <a:t>规则推演：供应商风险会沿产品与项目关系形成“受到影响”结论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625E02B-F8B0-482E-B88B-8F82CFF30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4933950"/>
            <a:ext cx="800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A6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A6B82"/>
                </a:solidFill>
                <a:latin typeface="Helvetica Neue"/>
                <a:ea typeface="Helvetica Neue"/>
                <a:cs typeface="Helvetica Neue"/>
              </a:rPr>
              <a:t>来源：交付延期邮件 + 产品说明 + 项目周报 + 会议录音 + 数据库映射</a:t>
            </a:r>
          </a:p>
        </p:txBody>
      </p:sp>
    </p:spTree>
    <p:extLst>
      <p:ext uri="{BB962C8B-B14F-4D97-AF65-F5344CB8AC3E}">
        <p14:creationId xmlns:p14="http://schemas.microsoft.com/office/powerpoint/2010/main" val="207843732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F3E8585-7480-4035-8050-957E33245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55EE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55EEF"/>
                </a:solidFill>
                <a:latin typeface="Helvetica Neue"/>
                <a:ea typeface="Helvetica Neue"/>
                <a:cs typeface="Helvetica Neue"/>
              </a:rPr>
              <a:t>04 能力协同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8871CB-D554-49C5-A9EE-30883EE78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10896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4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7243A"/>
                </a:solidFill>
                <a:latin typeface="Helvetica Neue"/>
                <a:ea typeface="Helvetica Neue"/>
                <a:cs typeface="Helvetica Neue"/>
              </a:rPr>
              <a:t>不同问题使用不同知识能力，最后由 Agent 统一编排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190677-3313-46DF-A396-4BC76D3E0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33500"/>
            <a:ext cx="1057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A6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A6B82"/>
                </a:solidFill>
                <a:latin typeface="Helvetica Neue"/>
                <a:ea typeface="Helvetica Neue"/>
                <a:cs typeface="Helvetica Neue"/>
              </a:rPr>
              <a:t>系统不让一种技术承担所有问题。 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B0315E-A2A3-4BFC-9580-06502A1F8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1985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A6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A6B82"/>
                </a:solidFill>
                <a:latin typeface="Helvetica Neue"/>
                <a:ea typeface="Helvetica Neue"/>
                <a:cs typeface="Helvetica Neue"/>
              </a:rPr>
              <a:t>演示数据，不代表国联集团真实经营数据。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C11C6C-A8D2-43B1-B15E-681CEE0EA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85950"/>
            <a:ext cx="19812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9E2F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55EE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55EEF"/>
                </a:solidFill>
                <a:latin typeface="Helvetica Neue"/>
                <a:ea typeface="Helvetica Neue"/>
                <a:cs typeface="Helvetica Neue"/>
              </a:rPr>
              <a:t>制度与说明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E9FD90-004A-4903-A30D-E9B64423E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1885950"/>
            <a:ext cx="2571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F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4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7243A"/>
                </a:solidFill>
                <a:latin typeface="Helvetica Neue"/>
                <a:ea typeface="Helvetica Neue"/>
                <a:cs typeface="Helvetica Neue"/>
              </a:rPr>
              <a:t>全文 + 向量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15E0A3-3BDB-4C5E-B471-1E61C935A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885950"/>
            <a:ext cx="59245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F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A6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A6B82"/>
                </a:solidFill>
                <a:latin typeface="Helvetica Neue"/>
                <a:ea typeface="Helvetica Neue"/>
                <a:cs typeface="Helvetica Neue"/>
              </a:rPr>
              <a:t>找到原文、语义相近内容与页码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3CC3A9-0DA3-4794-9000-3891BB8D1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67000"/>
            <a:ext cx="19812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9E2F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38A5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38A5B"/>
                </a:solidFill>
                <a:latin typeface="Helvetica Neue"/>
                <a:ea typeface="Helvetica Neue"/>
                <a:cs typeface="Helvetica Neue"/>
              </a:rPr>
              <a:t>多跳影响链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D1A95C-794E-417C-A835-80206A08C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667000"/>
            <a:ext cx="2571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F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4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7243A"/>
                </a:solidFill>
                <a:latin typeface="Helvetica Neue"/>
                <a:ea typeface="Helvetica Neue"/>
                <a:cs typeface="Helvetica Neue"/>
              </a:rPr>
              <a:t>知识图谱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82CB2F-3364-4E1B-B129-95195B8AD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667000"/>
            <a:ext cx="59245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F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A6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A6B82"/>
                </a:solidFill>
                <a:latin typeface="Helvetica Neue"/>
                <a:ea typeface="Helvetica Neue"/>
                <a:cs typeface="Helvetica Neue"/>
              </a:rPr>
              <a:t>沿实体关系扩展并解释每一跳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652E01-CC00-4971-99A7-A3FC28C0A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48050"/>
            <a:ext cx="19812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9E2F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B4530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B45309"/>
                </a:solidFill>
                <a:latin typeface="Helvetica Neue"/>
                <a:ea typeface="Helvetica Neue"/>
                <a:cs typeface="Helvetica Neue"/>
              </a:rPr>
              <a:t>金额与排名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8B203F4-9B2F-4C3A-9310-AEC60FCD6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3448050"/>
            <a:ext cx="2571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F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4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7243A"/>
                </a:solidFill>
                <a:latin typeface="Helvetica Neue"/>
                <a:ea typeface="Helvetica Neue"/>
                <a:cs typeface="Helvetica Neue"/>
              </a:rPr>
              <a:t>结构化语义查询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1403C0B-45F1-465D-A190-DF6009036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448050"/>
            <a:ext cx="59245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F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A6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A6B82"/>
                </a:solidFill>
                <a:latin typeface="Helvetica Neue"/>
                <a:ea typeface="Helvetica Neue"/>
                <a:cs typeface="Helvetica Neue"/>
              </a:rPr>
              <a:t>本体映射 → Query IR → 参数化 SQL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E6ABDA5-B724-4A4E-90ED-3896E4EF1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29100"/>
            <a:ext cx="19812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9E2F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B42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B42318"/>
                </a:solidFill>
                <a:latin typeface="Helvetica Neue"/>
                <a:ea typeface="Helvetica Neue"/>
                <a:cs typeface="Helvetica Neue"/>
              </a:rPr>
              <a:t>明确业务规则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E262F83-8B96-41F2-ADFF-851D894D7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4229100"/>
            <a:ext cx="2571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F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4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7243A"/>
                </a:solidFill>
                <a:latin typeface="Helvetica Neue"/>
                <a:ea typeface="Helvetica Neue"/>
                <a:cs typeface="Helvetica Neue"/>
              </a:rPr>
              <a:t>Semantica 推演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A1FFD3D-B306-490C-9BCA-CEAB5CAE2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229100"/>
            <a:ext cx="59245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F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A6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A6B82"/>
                </a:solidFill>
                <a:latin typeface="Helvetica Neue"/>
                <a:ea typeface="Helvetica Neue"/>
                <a:cs typeface="Helvetica Neue"/>
              </a:rPr>
              <a:t>把已有事实推导成有证据的新结论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80E89BB-4BE1-4AAE-9881-06EDF57F8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010150"/>
            <a:ext cx="19812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9E2F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749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E7490"/>
                </a:solidFill>
                <a:latin typeface="Helvetica Neue"/>
                <a:ea typeface="Helvetica Neue"/>
                <a:cs typeface="Helvetica Neue"/>
              </a:rPr>
              <a:t>会议与架构图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978E865-5312-47F5-AB7B-D2C17FA2F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5010150"/>
            <a:ext cx="2571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F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4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7243A"/>
                </a:solidFill>
                <a:latin typeface="Helvetica Neue"/>
                <a:ea typeface="Helvetica Neue"/>
                <a:cs typeface="Helvetica Neue"/>
              </a:rPr>
              <a:t>ASR + 视觉理解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531A32A-3DA6-4AE8-9C7E-A8C463862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5010150"/>
            <a:ext cx="59245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F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A6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A6B82"/>
                </a:solidFill>
                <a:latin typeface="Helvetica Neue"/>
                <a:ea typeface="Helvetica Neue"/>
                <a:cs typeface="Helvetica Neue"/>
              </a:rPr>
              <a:t>定位时间点、关键帧与图形关系</a:t>
            </a:r>
          </a:p>
        </p:txBody>
      </p:sp>
    </p:spTree>
    <p:extLst>
      <p:ext uri="{BB962C8B-B14F-4D97-AF65-F5344CB8AC3E}">
        <p14:creationId xmlns:p14="http://schemas.microsoft.com/office/powerpoint/2010/main" val="86949935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2008EDC-B49F-4F48-937F-47AA2DB0A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55EE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55EEF"/>
                </a:solidFill>
                <a:latin typeface="Helvetica Neue"/>
                <a:ea typeface="Helvetica Neue"/>
                <a:cs typeface="Helvetica Neue"/>
              </a:rPr>
              <a:t>05 演示结论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B6728F-15F8-4E67-9187-24126EDA0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10896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4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7243A"/>
                </a:solidFill>
                <a:latin typeface="Helvetica Neue"/>
                <a:ea typeface="Helvetica Neue"/>
                <a:cs typeface="Helvetica Neue"/>
              </a:rPr>
              <a:t>知识底座最终要让集团知识“可信、可算、可推演、可调用”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5DD9DD-4EEC-469A-A815-EC98EBE25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33500"/>
            <a:ext cx="1057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A6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A6B82"/>
                </a:solidFill>
                <a:latin typeface="Helvetica Neue"/>
                <a:ea typeface="Helvetica Neue"/>
                <a:cs typeface="Helvetica Neue"/>
              </a:rPr>
              <a:t>从一次演示，延伸到集团各类业务应用。 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B18E98-CD72-4B52-ADE5-B3D8B05AB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1985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A6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A6B82"/>
                </a:solidFill>
                <a:latin typeface="Helvetica Neue"/>
                <a:ea typeface="Helvetica Neue"/>
                <a:cs typeface="Helvetica Neue"/>
              </a:rPr>
              <a:t>演示数据，不代表国联集团真实经营数据。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9AB886-31C8-412E-A55A-810DA3F96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247650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D9E2F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441851-0AD3-4BDE-AEC3-E955408C5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66950"/>
            <a:ext cx="2057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33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55EE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55EEF"/>
                </a:solidFill>
                <a:latin typeface="Helvetica Neue"/>
                <a:ea typeface="Helvetica Neue"/>
                <a:cs typeface="Helvetica Neue"/>
              </a:rPr>
              <a:t>可信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366DDD-5AD6-4DDB-963D-2C5A6452E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28900"/>
            <a:ext cx="205740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A6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A6B82"/>
                </a:solidFill>
                <a:latin typeface="Helvetica Neue"/>
                <a:ea typeface="Helvetica Neue"/>
                <a:cs typeface="Helvetica Neue"/>
              </a:rPr>
              <a:t>版本、来源、权限、治理操作和引用都可追溯。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314CB1-C16F-408F-8C91-AD0A3EC4D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095500"/>
            <a:ext cx="247650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FF5E8"/>
          </a:solidFill>
          <a:ln xmlns:a="http://schemas.openxmlformats.org/drawingml/2006/main" w="9525">
            <a:solidFill>
              <a:srgbClr val="D9E2F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6DF085-59CD-495A-8796-B8C22513A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266950"/>
            <a:ext cx="2057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33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B4530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B45309"/>
                </a:solidFill>
                <a:latin typeface="Helvetica Neue"/>
                <a:ea typeface="Helvetica Neue"/>
                <a:cs typeface="Helvetica Neue"/>
              </a:rPr>
              <a:t>可算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23CC4F-9AE4-413B-9D6B-1F0C5084A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628900"/>
            <a:ext cx="205740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A6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A6B82"/>
                </a:solidFill>
                <a:latin typeface="Helvetica Neue"/>
                <a:ea typeface="Helvetica Neue"/>
                <a:cs typeface="Helvetica Neue"/>
              </a:rPr>
              <a:t>实时金额、数量、排名由受控数据库查询得到。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BDA736-AB11-4EA9-9635-9A71A3E7E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095500"/>
            <a:ext cx="247650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DECEC"/>
          </a:solidFill>
          <a:ln xmlns:a="http://schemas.openxmlformats.org/drawingml/2006/main" w="9525">
            <a:solidFill>
              <a:srgbClr val="D9E2F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B406CD1-8E72-416A-BEE8-71AD7A830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266950"/>
            <a:ext cx="2057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33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B42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B42318"/>
                </a:solidFill>
                <a:latin typeface="Helvetica Neue"/>
                <a:ea typeface="Helvetica Neue"/>
                <a:cs typeface="Helvetica Neue"/>
              </a:rPr>
              <a:t>可推演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7EC5D12-4C7B-4B74-BFB9-A6FB04750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628900"/>
            <a:ext cx="205740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A6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A6B82"/>
                </a:solidFill>
                <a:latin typeface="Helvetica Neue"/>
                <a:ea typeface="Helvetica Neue"/>
                <a:cs typeface="Helvetica Neue"/>
              </a:rPr>
              <a:t>专家规则形成可重复执行、可撤回的新知识。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848F523-7BE9-4AD6-9DFC-9D92E562A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095500"/>
            <a:ext cx="283845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E9F8F0"/>
          </a:solidFill>
          <a:ln xmlns:a="http://schemas.openxmlformats.org/drawingml/2006/main" w="9525">
            <a:solidFill>
              <a:srgbClr val="D9E2F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12ADC88-DA74-4F29-9DDF-DD63561AA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266950"/>
            <a:ext cx="2419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33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38A5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38A5B"/>
                </a:solidFill>
                <a:latin typeface="Helvetica Neue"/>
                <a:ea typeface="Helvetica Neue"/>
                <a:cs typeface="Helvetica Neue"/>
              </a:rPr>
              <a:t>可调用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49DD026-71CF-4138-9356-68AB5F275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628900"/>
            <a:ext cx="241935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A6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A6B82"/>
                </a:solidFill>
                <a:latin typeface="Helvetica Neue"/>
                <a:ea typeface="Helvetica Neue"/>
                <a:cs typeface="Helvetica Neue"/>
              </a:rPr>
              <a:t>通过 REST、MCP 与 CLI 服务集团应用和智能体。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DD0F512-F3ED-44C3-A9E5-26C0CD3A6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5010150"/>
            <a:ext cx="9105900" cy="590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55EEF"/>
          </a:solidFill>
          <a:ln xmlns:a="http://schemas.openxmlformats.org/drawingml/2006/main" w="0">
            <a:solidFill>
              <a:srgbClr val="155EE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下一步：围绕采购、风控、项目管理和制度问答建设具体应用场景</a:t>
            </a:r>
          </a:p>
        </p:txBody>
      </p:sp>
    </p:spTree>
    <p:extLst>
      <p:ext uri="{BB962C8B-B14F-4D97-AF65-F5344CB8AC3E}">
        <p14:creationId xmlns:p14="http://schemas.microsoft.com/office/powerpoint/2010/main" val="159172177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2026-09-05T17:49:21.1960000Z</dcterms:created>
  <dcterms:modified xsi:type="dcterms:W3CDTF">2026-09-05T17:49:21.1960000Z</dcterms:modified>
</coreProperties>
</file>